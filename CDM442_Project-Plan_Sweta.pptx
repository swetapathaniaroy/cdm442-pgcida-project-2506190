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CA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8477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30">
            <a:extLst>
              <a:ext uri="{FF2B5EF4-FFF2-40B4-BE49-F238E27FC236}">
                <a16:creationId xmlns:a16="http://schemas.microsoft.com/office/drawing/2014/main" id="{B59E184A-5419-CCE3-06C3-B2BC28D282E4}"/>
              </a:ext>
            </a:extLst>
          </p:cNvPr>
          <p:cNvSpPr/>
          <p:nvPr/>
        </p:nvSpPr>
        <p:spPr>
          <a:xfrm>
            <a:off x="3231388" y="2724912"/>
            <a:ext cx="2706624" cy="1020155"/>
          </a:xfrm>
          <a:prstGeom prst="rect">
            <a:avLst/>
          </a:prstGeom>
          <a:solidFill>
            <a:srgbClr val="E3F4EC"/>
          </a:solidFill>
          <a:ln w="5080">
            <a:solidFill>
              <a:srgbClr val="B2D9C8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Market Performance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120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PGCIDA · CDM442 · Module 4 Project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9728" y="950976"/>
            <a:ext cx="2907792" cy="34747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182880" y="950976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PROPOSED SOLUTION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45536" y="950976"/>
            <a:ext cx="2907792" cy="347472"/>
          </a:xfrm>
          <a:prstGeom prst="rect">
            <a:avLst/>
          </a:prstGeom>
          <a:solidFill>
            <a:srgbClr val="1D6B4F"/>
          </a:solidFill>
          <a:ln w="12700">
            <a:solidFill>
              <a:srgbClr val="1D6B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950976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81344" y="950976"/>
            <a:ext cx="2907792" cy="347472"/>
          </a:xfrm>
          <a:prstGeom prst="rect">
            <a:avLst/>
          </a:prstGeom>
          <a:solidFill>
            <a:srgbClr val="4A2F7A"/>
          </a:solidFill>
          <a:ln w="12700">
            <a:solidFill>
              <a:srgbClr val="4A2F7A"/>
            </a:solidFill>
            <a:prstDash val="solid"/>
          </a:ln>
        </p:spPr>
        <p:txBody>
          <a:bodyPr anchor="ctr"/>
          <a:lstStyle/>
          <a:p>
            <a:pPr algn="ctr"/>
            <a:r>
              <a:rPr lang="en-IN" sz="800" b="1" dirty="0">
                <a:solidFill>
                  <a:schemeClr val="bg1"/>
                </a:solidFill>
              </a:rPr>
              <a:t>TOOLS &amp; DELIVERABLES</a:t>
            </a:r>
          </a:p>
        </p:txBody>
      </p:sp>
      <p:sp>
        <p:nvSpPr>
          <p:cNvPr id="21" name="Shape 19"/>
          <p:cNvSpPr/>
          <p:nvPr/>
        </p:nvSpPr>
        <p:spPr>
          <a:xfrm>
            <a:off x="109728" y="1335024"/>
            <a:ext cx="2907792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45536" y="1335024"/>
            <a:ext cx="2907792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1168" y="1426464"/>
            <a:ext cx="2724912" cy="853694"/>
          </a:xfrm>
          <a:prstGeom prst="rect">
            <a:avLst/>
          </a:prstGeom>
          <a:solidFill>
            <a:srgbClr val="E6F1FB"/>
          </a:solidFill>
          <a:ln w="5080">
            <a:solidFill>
              <a:srgbClr val="C0D4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" y="1453896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37744" y="1664208"/>
            <a:ext cx="27066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managers in Indian capital markets rely on disconnected spreadsheets and broker reports, with no single consolidated view of multi-year equity performance vs the NIFTY 50 benchmark  leading to delayed data-poor investment decisions.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2880" y="3398265"/>
            <a:ext cx="2724912" cy="1036575"/>
          </a:xfrm>
          <a:prstGeom prst="rect">
            <a:avLst/>
          </a:prstGeom>
          <a:solidFill>
            <a:srgbClr val="E6F1FB"/>
          </a:solidFill>
          <a:ln w="5080">
            <a:solidFill>
              <a:srgbClr val="C0D4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8694" y="3431794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37744" y="3728466"/>
            <a:ext cx="2591308" cy="587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b="0" i="0" u="none" strike="noStrike" baseline="0" dirty="0">
                <a:solidFill>
                  <a:srgbClr val="1A1A2E"/>
                </a:solidFill>
              </a:rPr>
              <a:t>Analyze  NIFTY 50 equity data to calculate alpha per stock, measure sector contribution to  returns, surface concentration risk, and deliver a single Tableau dashboard for portfolio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36976" y="1426464"/>
            <a:ext cx="2724912" cy="789260"/>
          </a:xfrm>
          <a:prstGeom prst="rect">
            <a:avLst/>
          </a:prstGeom>
          <a:solidFill>
            <a:srgbClr val="E3F4EC"/>
          </a:solidFill>
          <a:ln w="5080">
            <a:solidFill>
              <a:srgbClr val="B2D9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1453896"/>
            <a:ext cx="2706624" cy="154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27400" y="1673352"/>
            <a:ext cx="2652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Kaggle - Dataset 1: NIFTY-50 Stock Market Data (2000 – 2021)  Dataset 2: NSE NIFTY-50 Index Values</a:t>
            </a:r>
            <a:endParaRPr lang="en-US" sz="700" dirty="0"/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Benchmark close prices for alpha calculation</a:t>
            </a:r>
            <a:endParaRPr lang="en-US" sz="700" dirty="0"/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Backup: NSE India / data.gov.in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273552" y="2487168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55264" y="2313441"/>
            <a:ext cx="2706624" cy="1013207"/>
          </a:xfrm>
          <a:prstGeom prst="rect">
            <a:avLst/>
          </a:prstGeom>
          <a:solidFill>
            <a:srgbClr val="E3F4EC"/>
          </a:solidFill>
          <a:ln w="5080">
            <a:solidFill>
              <a:srgbClr val="B2D9C8"/>
            </a:solidFill>
            <a:prstDash val="solid"/>
          </a:ln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800" b="1" dirty="0">
                <a:solidFill>
                  <a:srgbClr val="1D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(CRISP-DM)</a:t>
            </a:r>
            <a:endParaRPr lang="en-US" sz="800" dirty="0"/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1.  Business understanding -define RQs and PM decision context</a:t>
            </a:r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2.  Data understanding -profile 50 CSV files for gaps &amp; anomalies</a:t>
            </a:r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3.  Data preparation - Python ETL: clean, merge, calculate returns &amp; alpha</a:t>
            </a:r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4.  Modelling -SQL star schema, analytical queries</a:t>
            </a:r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5.  Evaluation -validate KPIs vs NSE published data; alpha zero-test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6.  Deployment -build Tableau dashboard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437376" y="2924982"/>
            <a:ext cx="2706624" cy="6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6246367" y="2521712"/>
            <a:ext cx="60452" cy="932180"/>
          </a:xfrm>
          <a:prstGeom prst="rect">
            <a:avLst/>
          </a:prstGeom>
          <a:solidFill>
            <a:srgbClr val="1D6B4F"/>
          </a:solidFill>
          <a:ln w="12700">
            <a:solidFill>
              <a:srgbClr val="1D6B4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50940" y="1533652"/>
            <a:ext cx="45719" cy="841248"/>
          </a:xfrm>
          <a:prstGeom prst="rect">
            <a:avLst/>
          </a:prstGeom>
          <a:solidFill>
            <a:srgbClr val="4A2F7A"/>
          </a:solidFill>
          <a:ln w="12700">
            <a:solidFill>
              <a:srgbClr val="4A2F7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4846320"/>
            <a:ext cx="9144000" cy="173736"/>
          </a:xfrm>
          <a:prstGeom prst="rect">
            <a:avLst/>
          </a:prstGeom>
          <a:solidFill>
            <a:srgbClr val="D0E4F7"/>
          </a:solidFill>
          <a:ln w="12700">
            <a:solidFill>
              <a:srgbClr val="D0E4F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2880" y="4846320"/>
            <a:ext cx="8906256" cy="119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0" y="5020056"/>
            <a:ext cx="9144000" cy="123444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2880" y="5020056"/>
            <a:ext cx="87782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AA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PGCIDA · CDM442 · Capstone Project Plan</a:t>
            </a:r>
            <a:endParaRPr lang="en-US" sz="650" dirty="0"/>
          </a:p>
        </p:txBody>
      </p:sp>
      <p:sp>
        <p:nvSpPr>
          <p:cNvPr id="63" name="Shape 22">
            <a:extLst>
              <a:ext uri="{FF2B5EF4-FFF2-40B4-BE49-F238E27FC236}">
                <a16:creationId xmlns:a16="http://schemas.microsoft.com/office/drawing/2014/main" id="{F7C49141-62ED-CC37-7608-343A3BB43F00}"/>
              </a:ext>
            </a:extLst>
          </p:cNvPr>
          <p:cNvSpPr/>
          <p:nvPr/>
        </p:nvSpPr>
        <p:spPr>
          <a:xfrm>
            <a:off x="182118" y="2391663"/>
            <a:ext cx="2724912" cy="883157"/>
          </a:xfrm>
          <a:prstGeom prst="rect">
            <a:avLst/>
          </a:prstGeom>
          <a:solidFill>
            <a:srgbClr val="E6F1FB"/>
          </a:solidFill>
          <a:ln w="5080">
            <a:solidFill>
              <a:srgbClr val="C0D4EE"/>
            </a:solidFill>
            <a:prstDash val="solid"/>
          </a:ln>
        </p:spPr>
      </p:sp>
      <p:sp>
        <p:nvSpPr>
          <p:cNvPr id="64" name="Text 23">
            <a:extLst>
              <a:ext uri="{FF2B5EF4-FFF2-40B4-BE49-F238E27FC236}">
                <a16:creationId xmlns:a16="http://schemas.microsoft.com/office/drawing/2014/main" id="{63722F7A-99AA-D1A7-CB42-CF47F1F0A6AB}"/>
              </a:ext>
            </a:extLst>
          </p:cNvPr>
          <p:cNvSpPr/>
          <p:nvPr/>
        </p:nvSpPr>
        <p:spPr>
          <a:xfrm>
            <a:off x="218694" y="2419096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850" dirty="0"/>
          </a:p>
        </p:txBody>
      </p:sp>
      <p:sp>
        <p:nvSpPr>
          <p:cNvPr id="65" name="Text 24">
            <a:extLst>
              <a:ext uri="{FF2B5EF4-FFF2-40B4-BE49-F238E27FC236}">
                <a16:creationId xmlns:a16="http://schemas.microsoft.com/office/drawing/2014/main" id="{1FB44891-5454-7F69-8ABF-05766517B3FB}"/>
              </a:ext>
            </a:extLst>
          </p:cNvPr>
          <p:cNvSpPr/>
          <p:nvPr/>
        </p:nvSpPr>
        <p:spPr>
          <a:xfrm>
            <a:off x="218694" y="2629407"/>
            <a:ext cx="2706624" cy="621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dirty="0">
                <a:solidFill>
                  <a:srgbClr val="1A1A2E"/>
                </a:solidFill>
              </a:rPr>
              <a:t>An interactive Tableau dashboard powered by a SQL star schema that provides a single </a:t>
            </a:r>
            <a:r>
              <a:rPr lang="en-US" sz="800" dirty="0" err="1">
                <a:solidFill>
                  <a:srgbClr val="1A1A2E"/>
                </a:solidFill>
              </a:rPr>
              <a:t>CxO</a:t>
            </a:r>
            <a:r>
              <a:rPr lang="en-US" sz="800" dirty="0">
                <a:solidFill>
                  <a:srgbClr val="1A1A2E"/>
                </a:solidFill>
              </a:rPr>
              <a:t>-level view: portfolio vs benchmark returns, sector contribution, concentration risk &amp; alpha.</a:t>
            </a:r>
          </a:p>
          <a:p>
            <a:r>
              <a:rPr lang="en-US" sz="800" i="1" dirty="0">
                <a:solidFill>
                  <a:srgbClr val="1A1A2E"/>
                </a:solidFill>
              </a:rPr>
              <a:t>(Hypothetical  Portfolio of 15 Stocks will be created </a:t>
            </a:r>
            <a:r>
              <a:rPr lang="en-US" sz="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₹1 Cr corpus  ·Conservative style </a:t>
            </a:r>
            <a:r>
              <a:rPr lang="en-US" sz="800" i="1" dirty="0">
                <a:solidFill>
                  <a:srgbClr val="1A1A2E"/>
                </a:solidFill>
              </a:rPr>
              <a:t>)</a:t>
            </a:r>
            <a:endParaRPr lang="en-US" sz="800" i="1" dirty="0"/>
          </a:p>
        </p:txBody>
      </p:sp>
      <p:sp>
        <p:nvSpPr>
          <p:cNvPr id="67" name="Shape 22">
            <a:extLst>
              <a:ext uri="{FF2B5EF4-FFF2-40B4-BE49-F238E27FC236}">
                <a16:creationId xmlns:a16="http://schemas.microsoft.com/office/drawing/2014/main" id="{AC265310-ED1D-3AC5-0B8A-24A3645CE6A2}"/>
              </a:ext>
            </a:extLst>
          </p:cNvPr>
          <p:cNvSpPr/>
          <p:nvPr/>
        </p:nvSpPr>
        <p:spPr>
          <a:xfrm>
            <a:off x="6406388" y="3596386"/>
            <a:ext cx="2664460" cy="982980"/>
          </a:xfrm>
          <a:prstGeom prst="rect">
            <a:avLst/>
          </a:prstGeom>
          <a:solidFill>
            <a:srgbClr val="E6F1FB"/>
          </a:solidFill>
          <a:ln w="5080">
            <a:solidFill>
              <a:srgbClr val="C0D4EE"/>
            </a:solidFill>
            <a:prstDash val="solid"/>
          </a:ln>
        </p:spPr>
        <p:txBody>
          <a:bodyPr/>
          <a:lstStyle/>
          <a:p>
            <a:pPr>
              <a:spcAft>
                <a:spcPts val="300"/>
              </a:spcAft>
            </a:pPr>
            <a:r>
              <a:rPr lang="en-IN" sz="700" b="1" dirty="0">
                <a:solidFill>
                  <a:srgbClr val="7030A0"/>
                </a:solidFill>
              </a:rPr>
              <a:t>Deliverables</a:t>
            </a:r>
            <a:endParaRPr lang="en-US" sz="750" b="1" dirty="0">
              <a:solidFill>
                <a:srgbClr val="1A1A2E"/>
              </a:solidFill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750" dirty="0">
                <a:solidFill>
                  <a:srgbClr val="1A1A2E"/>
                </a:solidFill>
              </a:rPr>
              <a:t>Data - Raw data ,SQL star schema + DDL + validated queries </a:t>
            </a:r>
            <a:endParaRPr lang="en-US" sz="750" dirty="0"/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750" dirty="0">
                <a:solidFill>
                  <a:srgbClr val="1A1A2E"/>
                </a:solidFill>
              </a:rPr>
              <a:t>Visualization- </a:t>
            </a:r>
          </a:p>
          <a:p>
            <a:pPr>
              <a:spcAft>
                <a:spcPts val="300"/>
              </a:spcAft>
            </a:pPr>
            <a:r>
              <a:rPr lang="en-US" sz="750" dirty="0">
                <a:solidFill>
                  <a:srgbClr val="1A1A2E"/>
                </a:solidFill>
              </a:rPr>
              <a:t>Tableau dashboard 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750" dirty="0">
                <a:solidFill>
                  <a:srgbClr val="1A1A2E"/>
                </a:solidFill>
              </a:rPr>
              <a:t>Presentation</a:t>
            </a:r>
            <a:endParaRPr lang="en-US" sz="75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750" dirty="0"/>
          </a:p>
        </p:txBody>
      </p:sp>
      <p:sp>
        <p:nvSpPr>
          <p:cNvPr id="68" name="Shape 39"/>
          <p:cNvSpPr/>
          <p:nvPr/>
        </p:nvSpPr>
        <p:spPr>
          <a:xfrm>
            <a:off x="6267196" y="3588004"/>
            <a:ext cx="45719" cy="9829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0" name="Shape 30">
            <a:extLst>
              <a:ext uri="{FF2B5EF4-FFF2-40B4-BE49-F238E27FC236}">
                <a16:creationId xmlns:a16="http://schemas.microsoft.com/office/drawing/2014/main" id="{9D613B59-3C83-6B82-154A-2EBE71FB5A98}"/>
              </a:ext>
            </a:extLst>
          </p:cNvPr>
          <p:cNvSpPr/>
          <p:nvPr/>
        </p:nvSpPr>
        <p:spPr>
          <a:xfrm>
            <a:off x="3241802" y="3401322"/>
            <a:ext cx="2714498" cy="1243829"/>
          </a:xfrm>
          <a:prstGeom prst="rect">
            <a:avLst/>
          </a:prstGeom>
          <a:solidFill>
            <a:srgbClr val="E3F4EC"/>
          </a:solidFill>
          <a:ln w="5080">
            <a:solidFill>
              <a:srgbClr val="B2D9C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1" name="Text 31">
            <a:extLst>
              <a:ext uri="{FF2B5EF4-FFF2-40B4-BE49-F238E27FC236}">
                <a16:creationId xmlns:a16="http://schemas.microsoft.com/office/drawing/2014/main" id="{50E17976-EC54-E398-B205-5D76CB39C0A3}"/>
              </a:ext>
            </a:extLst>
          </p:cNvPr>
          <p:cNvSpPr/>
          <p:nvPr/>
        </p:nvSpPr>
        <p:spPr>
          <a:xfrm>
            <a:off x="3261614" y="3482816"/>
            <a:ext cx="2706624" cy="191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dirty="0">
                <a:solidFill>
                  <a:srgbClr val="1D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Techniques</a:t>
            </a:r>
            <a:endParaRPr lang="en-US" sz="850" dirty="0"/>
          </a:p>
        </p:txBody>
      </p:sp>
      <p:sp>
        <p:nvSpPr>
          <p:cNvPr id="72" name="Text 32">
            <a:extLst>
              <a:ext uri="{FF2B5EF4-FFF2-40B4-BE49-F238E27FC236}">
                <a16:creationId xmlns:a16="http://schemas.microsoft.com/office/drawing/2014/main" id="{44B72603-B287-1646-42C1-38CF1A49B1E8}"/>
              </a:ext>
            </a:extLst>
          </p:cNvPr>
          <p:cNvSpPr/>
          <p:nvPr/>
        </p:nvSpPr>
        <p:spPr>
          <a:xfrm>
            <a:off x="3327400" y="3674160"/>
            <a:ext cx="2652776" cy="1007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Daily &amp; cumulative return %  </a:t>
            </a:r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Alpha (stock returns – benchmark returns)  </a:t>
            </a:r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Descriptive Statistics OHLCV Distribution, returns, Profiling per stock</a:t>
            </a:r>
            <a:endParaRPr lang="en-US" sz="700" dirty="0"/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Sector concentration weight %  ( </a:t>
            </a:r>
            <a:r>
              <a:rPr lang="en-US" sz="700" dirty="0" err="1">
                <a:solidFill>
                  <a:srgbClr val="1A1A2E"/>
                </a:solidFill>
              </a:rPr>
              <a:t>Pf</a:t>
            </a:r>
            <a:r>
              <a:rPr lang="en-US" sz="700" dirty="0">
                <a:solidFill>
                  <a:srgbClr val="1A1A2E"/>
                </a:solidFill>
              </a:rPr>
              <a:t> allocation by Sector)</a:t>
            </a:r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Volatility (std dev of returns per stock)</a:t>
            </a:r>
            <a:endParaRPr lang="en-US" sz="700" dirty="0"/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1A1A2E"/>
                </a:solidFill>
              </a:rPr>
              <a:t>Performance ranking  ·  Time-series trend analysis</a:t>
            </a:r>
          </a:p>
          <a:p>
            <a:pPr algn="l"/>
            <a:endParaRPr lang="en-US" sz="700" dirty="0"/>
          </a:p>
        </p:txBody>
      </p:sp>
      <p:sp>
        <p:nvSpPr>
          <p:cNvPr id="73" name="Shape 22">
            <a:extLst>
              <a:ext uri="{FF2B5EF4-FFF2-40B4-BE49-F238E27FC236}">
                <a16:creationId xmlns:a16="http://schemas.microsoft.com/office/drawing/2014/main" id="{7A578709-9A9C-3A77-0734-463FCC71CDAE}"/>
              </a:ext>
            </a:extLst>
          </p:cNvPr>
          <p:cNvSpPr/>
          <p:nvPr/>
        </p:nvSpPr>
        <p:spPr>
          <a:xfrm>
            <a:off x="6369812" y="2499614"/>
            <a:ext cx="2664460" cy="932180"/>
          </a:xfrm>
          <a:prstGeom prst="rect">
            <a:avLst/>
          </a:prstGeom>
          <a:solidFill>
            <a:srgbClr val="E6F1FB"/>
          </a:solidFill>
          <a:ln w="5080">
            <a:solidFill>
              <a:srgbClr val="C0D4EE"/>
            </a:solidFill>
            <a:prstDash val="solid"/>
          </a:ln>
        </p:spPr>
        <p:txBody>
          <a:bodyPr/>
          <a:lstStyle/>
          <a:p>
            <a:r>
              <a:rPr lang="en-IN" sz="800" b="1" dirty="0">
                <a:solidFill>
                  <a:srgbClr val="7030A0"/>
                </a:solidFill>
              </a:rPr>
              <a:t>Portfolio Decision Logic</a:t>
            </a:r>
          </a:p>
          <a:p>
            <a:pPr algn="l"/>
            <a:r>
              <a:rPr lang="en-IN" sz="800" b="1" i="0" u="none" strike="noStrike" baseline="0" dirty="0">
                <a:solidFill>
                  <a:srgbClr val="1D6B4F"/>
                </a:solidFill>
              </a:rPr>
              <a:t>Alpha &gt; 0 (Outperformer):</a:t>
            </a:r>
          </a:p>
          <a:p>
            <a:pPr algn="l"/>
            <a:r>
              <a:rPr lang="en-US" sz="800" b="0" i="0" u="none" strike="noStrike" baseline="0" dirty="0">
                <a:solidFill>
                  <a:srgbClr val="1A1A2E"/>
                </a:solidFill>
              </a:rPr>
              <a:t>Stock beat NIFTY ® Hold or increase allocation</a:t>
            </a:r>
          </a:p>
          <a:p>
            <a:pPr algn="l"/>
            <a:r>
              <a:rPr lang="en-IN" sz="800" b="1" i="0" u="none" strike="noStrike" baseline="0" dirty="0">
                <a:solidFill>
                  <a:srgbClr val="8C1A1A"/>
                </a:solidFill>
              </a:rPr>
              <a:t>Alpha &lt; 0 (Underperformer):</a:t>
            </a:r>
          </a:p>
          <a:p>
            <a:pPr algn="l"/>
            <a:r>
              <a:rPr lang="en-US" sz="800" b="0" i="0" u="none" strike="noStrike" baseline="0" dirty="0">
                <a:solidFill>
                  <a:srgbClr val="1A1A2E"/>
                </a:solidFill>
              </a:rPr>
              <a:t>Stock trailed NIFTY ® Review or exit position</a:t>
            </a:r>
          </a:p>
          <a:p>
            <a:pPr algn="l"/>
            <a:r>
              <a:rPr lang="en-IN" sz="800" b="1" i="0" u="none" strike="noStrike" baseline="0" dirty="0">
                <a:solidFill>
                  <a:srgbClr val="4A2F7A"/>
                </a:solidFill>
              </a:rPr>
              <a:t>Concentration &gt; 30%:</a:t>
            </a:r>
          </a:p>
          <a:p>
            <a:pPr algn="l"/>
            <a:r>
              <a:rPr lang="en-US" sz="800" b="0" i="0" u="none" strike="noStrike" baseline="0" dirty="0">
                <a:solidFill>
                  <a:srgbClr val="1A1A2E"/>
                </a:solidFill>
              </a:rPr>
              <a:t>Sector overweight ® Monitor &amp; consider rebalancing</a:t>
            </a:r>
            <a:endParaRPr lang="en-IN" sz="800" dirty="0"/>
          </a:p>
          <a:p>
            <a:endParaRPr lang="en-IN" sz="800" dirty="0"/>
          </a:p>
        </p:txBody>
      </p:sp>
      <p:sp>
        <p:nvSpPr>
          <p:cNvPr id="74" name="Shape 22">
            <a:extLst>
              <a:ext uri="{FF2B5EF4-FFF2-40B4-BE49-F238E27FC236}">
                <a16:creationId xmlns:a16="http://schemas.microsoft.com/office/drawing/2014/main" id="{CFCA61F3-616E-F373-FD47-6F5ED1F6DB0B}"/>
              </a:ext>
            </a:extLst>
          </p:cNvPr>
          <p:cNvSpPr/>
          <p:nvPr/>
        </p:nvSpPr>
        <p:spPr>
          <a:xfrm>
            <a:off x="6369812" y="1533653"/>
            <a:ext cx="2664460" cy="740668"/>
          </a:xfrm>
          <a:prstGeom prst="rect">
            <a:avLst/>
          </a:prstGeom>
          <a:solidFill>
            <a:srgbClr val="E6F1FB"/>
          </a:solidFill>
          <a:ln w="5080">
            <a:solidFill>
              <a:srgbClr val="C0D4EE"/>
            </a:solidFill>
            <a:prstDash val="solid"/>
          </a:ln>
        </p:spPr>
        <p:txBody>
          <a:bodyPr/>
          <a:lstStyle/>
          <a:p>
            <a:r>
              <a:rPr lang="en-IN" sz="800" b="1" dirty="0">
                <a:solidFill>
                  <a:srgbClr val="7030A0"/>
                </a:solidFill>
              </a:rPr>
              <a:t>Tools</a:t>
            </a:r>
          </a:p>
          <a:p>
            <a:endParaRPr lang="en-IN" sz="800" b="1" dirty="0">
              <a:solidFill>
                <a:srgbClr val="7030A0"/>
              </a:solidFill>
            </a:endParaRPr>
          </a:p>
          <a:p>
            <a:r>
              <a:rPr lang="en-US" sz="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   </a:t>
            </a:r>
          </a:p>
          <a:p>
            <a:r>
              <a:rPr lang="en-US" sz="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SQLite  ·</a:t>
            </a:r>
          </a:p>
          <a:p>
            <a:r>
              <a:rPr lang="en-US" sz="8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</a:t>
            </a:r>
            <a:endParaRPr lang="en-IN" sz="800" dirty="0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D02171D5-08BB-D5AB-5FB7-C302305DE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660" y="3905377"/>
            <a:ext cx="1773162" cy="6200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Weekly Execution Plan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0" y="228600"/>
            <a:ext cx="1645920" cy="502920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0" y="228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B"/>
                </a:solidFill>
              </a:rPr>
              <a:t>May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1051560"/>
            <a:ext cx="169164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051560"/>
            <a:ext cx="1691640" cy="6583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155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WEEK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Apr 21–27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15087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</a:rPr>
              <a:t>Foundation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74320" y="1801368"/>
            <a:ext cx="1554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Download NIFTY 50 datasets from Kaggle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Explore &amp; profile raw CSV data in Python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Design SQL star schema (ERD)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Create DDL scripts for all 4 tables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" y="4215384"/>
            <a:ext cx="1691640" cy="658368"/>
          </a:xfrm>
          <a:prstGeom prst="rect">
            <a:avLst/>
          </a:prstGeom>
          <a:solidFill>
            <a:srgbClr val="E6F1FB"/>
          </a:solidFill>
          <a:ln w="6350">
            <a:solidFill>
              <a:srgbClr val="C0D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4215384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85FA5"/>
                </a:solidFill>
              </a:rPr>
              <a:t>✓  Star schema ERD + DDL scripts ready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993392" y="1051560"/>
            <a:ext cx="169164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93392" y="1051560"/>
            <a:ext cx="1691640" cy="6583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84832" y="11155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WEEK 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84832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Apr 28–May 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84832" y="15087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</a:rPr>
              <a:t>Data Engineering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084832" y="1801368"/>
            <a:ext cx="1554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Run Python ETL: clean, merge 50 stock CSVs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Calculate daily returns, cumulative returns &amp; alpha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Load 4 clean CSVs into SQL database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Validate data with QA queries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993392" y="4215384"/>
            <a:ext cx="1691640" cy="658368"/>
          </a:xfrm>
          <a:prstGeom prst="rect">
            <a:avLst/>
          </a:prstGeom>
          <a:solidFill>
            <a:srgbClr val="E6F1FB"/>
          </a:solidFill>
          <a:ln w="6350">
            <a:solidFill>
              <a:srgbClr val="C0D4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66544" y="4215384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D9E75"/>
                </a:solidFill>
              </a:rPr>
              <a:t>✓  SQL DB loaded · ~60K rows validated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803904" y="1051560"/>
            <a:ext cx="169164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03904" y="1051560"/>
            <a:ext cx="1691640" cy="658368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95344" y="11155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WEEK 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95344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May 5–9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95344" y="15087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</a:rPr>
              <a:t>Tableau Dashboard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895344" y="1801368"/>
            <a:ext cx="1554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Connect Tableau to SQL / CSV data source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Build KPI cards: return, alpha, volatility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Build line chart: Portfolio vs NIFTY 50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Build sector bar chart + stock leaderboard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03904" y="4215384"/>
            <a:ext cx="1691640" cy="658368"/>
          </a:xfrm>
          <a:prstGeom prst="rect">
            <a:avLst/>
          </a:prstGeom>
          <a:solidFill>
            <a:srgbClr val="E6F1FB"/>
          </a:solidFill>
          <a:ln w="6350">
            <a:solidFill>
              <a:srgbClr val="C0D4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77056" y="4215384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B3FA0"/>
                </a:solidFill>
              </a:rPr>
              <a:t>✓  V1 Tableau dashboard — 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614416" y="1051560"/>
            <a:ext cx="169164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614416" y="1051560"/>
            <a:ext cx="1691640" cy="658368"/>
          </a:xfrm>
          <a:prstGeom prst="rect">
            <a:avLst/>
          </a:prstGeom>
          <a:solidFill>
            <a:srgbClr val="C49A28"/>
          </a:solidFill>
          <a:ln w="12700">
            <a:solidFill>
              <a:srgbClr val="C49A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05856" y="11155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WEEK 4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05856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May 10–13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705856" y="15087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</a:rPr>
              <a:t>Insights &amp; Report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705856" y="1801368"/>
            <a:ext cx="1554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Add time period parameter (1Y/3Y/5Y filter)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Write insight narrative for each chart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Draft project report: problem → method → insight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Create project presentation deck (5–7 slides)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614416" y="4215384"/>
            <a:ext cx="1691640" cy="658368"/>
          </a:xfrm>
          <a:prstGeom prst="rect">
            <a:avLst/>
          </a:prstGeom>
          <a:solidFill>
            <a:srgbClr val="E6F1FB"/>
          </a:solidFill>
          <a:ln w="6350">
            <a:solidFill>
              <a:srgbClr val="C0D4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87568" y="4215384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49A28"/>
                </a:solidFill>
              </a:rPr>
              <a:t>✓  Final dashboard + project report complete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424928" y="1051560"/>
            <a:ext cx="169164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8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424928" y="1051560"/>
            <a:ext cx="169164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16368" y="11155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</a:rPr>
              <a:t>WEEK 5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516368" y="13258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May 14–16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516368" y="15087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FFFF"/>
                </a:solidFill>
              </a:rPr>
              <a:t>Viva Prep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516368" y="1801368"/>
            <a:ext cx="1554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Prepare viva answers: why this problem, what's new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Rehearse walking through SQL schema &amp; Tableau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Prepare for: 'dashboards already exist' question</a:t>
            </a:r>
            <a:endParaRPr lang="en-US" sz="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1A1A2E"/>
                </a:solidFill>
              </a:rPr>
              <a:t>Final review &amp; submission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424928" y="4215384"/>
            <a:ext cx="1691640" cy="658368"/>
          </a:xfrm>
          <a:prstGeom prst="rect">
            <a:avLst/>
          </a:prstGeom>
          <a:solidFill>
            <a:srgbClr val="E6F1FB"/>
          </a:solidFill>
          <a:ln w="6350">
            <a:solidFill>
              <a:srgbClr val="C0D4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98080" y="4215384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0392B"/>
                </a:solidFill>
              </a:rPr>
              <a:t>✓  Viva-ready —✓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ABCD8"/>
                </a:solidFill>
              </a:rPr>
              <a:t>PGCIDA Capstone  ·  Module 4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3">
            <a:extLst>
              <a:ext uri="{FF2B5EF4-FFF2-40B4-BE49-F238E27FC236}">
                <a16:creationId xmlns:a16="http://schemas.microsoft.com/office/drawing/2014/main" id="{56104B04-2E6A-EA85-6D3F-B35F53384371}"/>
              </a:ext>
            </a:extLst>
          </p:cNvPr>
          <p:cNvSpPr/>
          <p:nvPr/>
        </p:nvSpPr>
        <p:spPr>
          <a:xfrm>
            <a:off x="204978" y="455676"/>
            <a:ext cx="2907792" cy="34747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r>
              <a:rPr lang="en-US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IN" dirty="0"/>
          </a:p>
        </p:txBody>
      </p:sp>
      <p:sp>
        <p:nvSpPr>
          <p:cNvPr id="30" name="Text 28"/>
          <p:cNvSpPr/>
          <p:nvPr/>
        </p:nvSpPr>
        <p:spPr>
          <a:xfrm>
            <a:off x="269494" y="904748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9494" y="1142492"/>
            <a:ext cx="27066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2E"/>
                </a:solidFill>
              </a:rPr>
              <a:t>RQ1  How did the portfolio perform vs NIFTY 50 over 1Y, 3Y and 5Y?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2E"/>
                </a:solidFill>
              </a:rPr>
              <a:t>RQ2  Which stocks generated positive alpha and which underperformed?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2E"/>
                </a:solidFill>
              </a:rPr>
              <a:t>RQ3  Which sectors contributed most / least to portfolio returns?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2E"/>
                </a:solidFill>
              </a:rPr>
              <a:t>RQ4  Is the portfolio over-concentrated in any single sector?</a:t>
            </a:r>
            <a:endParaRPr lang="en-US" sz="7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1A1A2E"/>
                </a:solidFill>
              </a:rPr>
              <a:t>RQ5  Which 3 stocks should be held, reviewed, or exited based on 5Y alpha?</a:t>
            </a:r>
            <a:endParaRPr lang="en-US" sz="750" dirty="0"/>
          </a:p>
        </p:txBody>
      </p:sp>
      <p:sp>
        <p:nvSpPr>
          <p:cNvPr id="3" name="Shape 15">
            <a:extLst>
              <a:ext uri="{FF2B5EF4-FFF2-40B4-BE49-F238E27FC236}">
                <a16:creationId xmlns:a16="http://schemas.microsoft.com/office/drawing/2014/main" id="{F6F99488-D71E-DDC7-BC2D-B822582614EB}"/>
              </a:ext>
            </a:extLst>
          </p:cNvPr>
          <p:cNvSpPr/>
          <p:nvPr/>
        </p:nvSpPr>
        <p:spPr>
          <a:xfrm>
            <a:off x="338836" y="2513076"/>
            <a:ext cx="2907792" cy="347472"/>
          </a:xfrm>
          <a:prstGeom prst="rect">
            <a:avLst/>
          </a:prstGeom>
          <a:solidFill>
            <a:srgbClr val="1D6B4F"/>
          </a:solidFill>
          <a:ln w="12700">
            <a:solidFill>
              <a:srgbClr val="1D6B4F"/>
            </a:solidFill>
            <a:prstDash val="solid"/>
          </a:ln>
        </p:spPr>
        <p:txBody>
          <a:bodyPr/>
          <a:lstStyle/>
          <a:p>
            <a:r>
              <a:rPr lang="en-IN" dirty="0"/>
              <a:t>Data Source Links</a:t>
            </a:r>
          </a:p>
        </p:txBody>
      </p:sp>
      <p:sp>
        <p:nvSpPr>
          <p:cNvPr id="4" name="Shape 30">
            <a:extLst>
              <a:ext uri="{FF2B5EF4-FFF2-40B4-BE49-F238E27FC236}">
                <a16:creationId xmlns:a16="http://schemas.microsoft.com/office/drawing/2014/main" id="{25660667-97A8-6F21-B91E-4034A3499E1A}"/>
              </a:ext>
            </a:extLst>
          </p:cNvPr>
          <p:cNvSpPr/>
          <p:nvPr/>
        </p:nvSpPr>
        <p:spPr>
          <a:xfrm>
            <a:off x="296926" y="2969514"/>
            <a:ext cx="2724912" cy="1501394"/>
          </a:xfrm>
          <a:prstGeom prst="rect">
            <a:avLst/>
          </a:prstGeom>
          <a:solidFill>
            <a:srgbClr val="E3F4EC"/>
          </a:solidFill>
          <a:ln w="5080">
            <a:solidFill>
              <a:srgbClr val="B2D9C8"/>
            </a:solidFill>
            <a:prstDash val="solid"/>
          </a:ln>
        </p:spPr>
      </p:sp>
      <p:sp>
        <p:nvSpPr>
          <p:cNvPr id="5" name="Text 31">
            <a:extLst>
              <a:ext uri="{FF2B5EF4-FFF2-40B4-BE49-F238E27FC236}">
                <a16:creationId xmlns:a16="http://schemas.microsoft.com/office/drawing/2014/main" id="{7C4DD966-A4A7-D031-0729-2AD5F7E0E081}"/>
              </a:ext>
            </a:extLst>
          </p:cNvPr>
          <p:cNvSpPr/>
          <p:nvPr/>
        </p:nvSpPr>
        <p:spPr>
          <a:xfrm>
            <a:off x="333502" y="2996946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D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850" dirty="0"/>
          </a:p>
        </p:txBody>
      </p:sp>
      <p:sp>
        <p:nvSpPr>
          <p:cNvPr id="6" name="Text 32">
            <a:extLst>
              <a:ext uri="{FF2B5EF4-FFF2-40B4-BE49-F238E27FC236}">
                <a16:creationId xmlns:a16="http://schemas.microsoft.com/office/drawing/2014/main" id="{26FF4B9A-AA71-F6AD-144D-54F38531C130}"/>
              </a:ext>
            </a:extLst>
          </p:cNvPr>
          <p:cNvSpPr/>
          <p:nvPr/>
        </p:nvSpPr>
        <p:spPr>
          <a:xfrm>
            <a:off x="333502" y="3216402"/>
            <a:ext cx="2706624" cy="1254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750" dirty="0">
                <a:solidFill>
                  <a:srgbClr val="1A1A2E"/>
                </a:solidFill>
              </a:rPr>
              <a:t>Kaggle - Dataset 1: NIFTY-50 Stock Market Data (2000 – 2021 https://www.kaggle.com/datasets/rohanrao/nifty50-stock-market-data</a:t>
            </a:r>
            <a:endParaRPr lang="en-US" sz="750" dirty="0"/>
          </a:p>
          <a:p>
            <a:pPr>
              <a:spcAft>
                <a:spcPts val="200"/>
              </a:spcAft>
              <a:buSzPct val="100000"/>
            </a:pPr>
            <a:r>
              <a:rPr lang="en-US" sz="750" dirty="0">
                <a:solidFill>
                  <a:srgbClr val="1A1A2E"/>
                </a:solidFill>
              </a:rPr>
              <a:t>          Contains 50 stocks (Open, High, Low Close and Volume -         OHLCV information) · 2020–2024 · ~62,500 rows</a:t>
            </a:r>
            <a:endParaRPr lang="en-US" sz="750" dirty="0"/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750" dirty="0">
                <a:solidFill>
                  <a:srgbClr val="1A1A2E"/>
                </a:solidFill>
              </a:rPr>
              <a:t>Dataset 2: NSE NIFTY-50 Index Values (kalilurrahman) — Kaggle</a:t>
            </a:r>
            <a:endParaRPr lang="en-US" sz="750" dirty="0"/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750" dirty="0">
                <a:solidFill>
                  <a:srgbClr val="1A1A2E"/>
                </a:solidFill>
              </a:rPr>
              <a:t>Benchmark close prices for alpha calculation</a:t>
            </a:r>
            <a:endParaRPr lang="en-US" sz="750" dirty="0"/>
          </a:p>
          <a:p>
            <a:pPr marL="171450" indent="-171450"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750" dirty="0">
                <a:solidFill>
                  <a:srgbClr val="1A1A2E"/>
                </a:solidFill>
              </a:rPr>
              <a:t>Backup: NSE India / data.gov.in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663946" y="576326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DELIVERABLES &amp; TOOLS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590794" y="1655670"/>
            <a:ext cx="73152" cy="442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3946" y="3899718"/>
            <a:ext cx="2706624" cy="466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2634192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766</Words>
  <Application>Microsoft Office PowerPoint</Application>
  <PresentationFormat>On-screen Show (16:9)</PresentationFormat>
  <Paragraphs>108</Paragraphs>
  <Slides>3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PGCIDA CDM442 Project Plan – Equity Market Performance Dashboard</dc:title>
  <dc:subject>PptxGenJS Presentation</dc:subject>
  <dc:creator>Sweta</dc:creator>
  <cp:lastModifiedBy>sweta pathania</cp:lastModifiedBy>
  <cp:revision>4</cp:revision>
  <dcterms:created xsi:type="dcterms:W3CDTF">2026-04-22T11:37:17Z</dcterms:created>
  <dcterms:modified xsi:type="dcterms:W3CDTF">2026-04-25T08:40:31Z</dcterms:modified>
</cp:coreProperties>
</file>